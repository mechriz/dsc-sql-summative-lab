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Movie Volume by Year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420</c:v>
                </c:pt>
                <c:pt idx="1">
                  <c:v>460</c:v>
                </c:pt>
                <c:pt idx="2">
                  <c:v>490</c:v>
                </c:pt>
                <c:pt idx="3">
                  <c:v>510</c:v>
                </c:pt>
                <c:pt idx="4">
                  <c:v>540</c:v>
                </c:pt>
                <c:pt idx="5">
                  <c:v>575</c:v>
                </c:pt>
                <c:pt idx="6">
                  <c:v>600</c:v>
                </c:pt>
                <c:pt idx="7">
                  <c:v>620</c:v>
                </c:pt>
                <c:pt idx="8">
                  <c:v>650</c:v>
                </c:pt>
                <c:pt idx="9">
                  <c:v>680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Rating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Movies</c:v>
                </c:pt>
              </c:strCache>
            </c:strRef>
          </c:tx>
          <c:spPr>
            <a:solidFill>
              <a:srgbClr val="12B5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&lt;4</c:v>
                  </c:pt>
                  <c:pt idx="1">
                    <c:v>4–5</c:v>
                  </c:pt>
                  <c:pt idx="2">
                    <c:v>5–6</c:v>
                  </c:pt>
                  <c:pt idx="3">
                    <c:v>6–7</c:v>
                  </c:pt>
                  <c:pt idx="4">
                    <c:v>7–8</c:v>
                  </c:pt>
                  <c:pt idx="5">
                    <c:v>8–9</c:v>
                  </c:pt>
                  <c:pt idx="6">
                    <c:v>&gt;9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180</c:v>
                </c:pt>
                <c:pt idx="2">
                  <c:v>620</c:v>
                </c:pt>
                <c:pt idx="3">
                  <c:v>890</c:v>
                </c:pt>
                <c:pt idx="4">
                  <c:v>410</c:v>
                </c:pt>
                <c:pt idx="5">
                  <c:v>130</c:v>
                </c:pt>
                <c:pt idx="6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Avg Rating by Runtime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&lt;60m</c:v>
                  </c:pt>
                  <c:pt idx="1">
                    <c:v>60-90m</c:v>
                  </c:pt>
                  <c:pt idx="2">
                    <c:v>90-120m</c:v>
                  </c:pt>
                  <c:pt idx="3">
                    <c:v>120-150m</c:v>
                  </c:pt>
                  <c:pt idx="4">
                    <c:v>&gt;150m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</c:v>
                </c:pt>
                <c:pt idx="1">
                  <c:v>6.1</c:v>
                </c:pt>
                <c:pt idx="2">
                  <c:v>6.7</c:v>
                </c:pt>
                <c:pt idx="3">
                  <c:v>6.4</c:v>
                </c:pt>
                <c:pt idx="4">
                  <c:v>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  <c:min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Data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3774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Insights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2019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3429000"/>
            <a:ext cx="50292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611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· Business Questions · Cleaning Roadmap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533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2070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genres, ratings, runtime &amp; director trends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82296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87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44144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8620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× Genre vs. ratings &amp; commercial success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82296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221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67588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Roadmap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9651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 across genre, runtime, rating &amp; person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3 — Movie Volume &amp; Genre Popularity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46304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463040"/>
            <a:ext cx="73152" cy="5120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15544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0" y="210312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103120"/>
            <a:ext cx="73152" cy="5120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2194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274320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0" y="2743200"/>
            <a:ext cx="73152" cy="5120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28346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0" y="338328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0" y="3383280"/>
            <a:ext cx="73152" cy="5120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Thriller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0" y="34747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0" y="402336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4023360"/>
            <a:ext cx="73152" cy="5120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0" y="41148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3 — Rating Distribution &amp; Runtime Impact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0584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D6EEF2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6085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movies cluster between 5.0–7.0 · Medium-length films (90–120 min) earn the highest average ratings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Exploration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3 — Director Quality &amp; Voting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needed for a director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consistent quality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 and rating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Insights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with 3+ films in the dataset consistently score above the dataset average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movies (high vote counts) trend toward higher ratings — audience engagement matters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Low-vote films (&lt; 100 votes) introduce noise; filtering recommended before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volume growth suggests increasing content competition in the decade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1508760"/>
          </a:xfrm>
          <a:prstGeom prst="rect">
            <a:avLst/>
          </a:prstGeom>
          <a:solidFill>
            <a:srgbClr val="0A2540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a movie's runtime and genre combination affect its average rating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commercial success (measured by number of votes), and which specific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runtime–genre combinations should studios prioritize for maximum audience reception?"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Studios can optimize budget allocation by knowing which runtimes perform per genre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216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Marketing teams can target historically high-performing genre–runtime pairings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28853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Streaming platforms can surface content based on proven audience reception patterns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Runtime Data Issues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402336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61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multi-genre strings need normalization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genre naming conventions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 rows with NULL genre values to exclude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61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present — exclude from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0-minute entries &amp; extremely long runtimes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units to minutes throughout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Person &amp; Date Issues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502920"/>
          </a:xfrm>
          <a:prstGeom prst="rect">
            <a:avLst/>
          </a:prstGeom>
          <a:solidFill>
            <a:srgbClr val="12B5C7"/>
          </a:solidFill>
          <a:ln w="12700">
            <a:solidFill>
              <a:srgbClr val="12B5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with &lt; 100 votes may not provide reliable ratings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minimum vote threshold for statistical significance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97480" cy="502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Name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691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duplicate person entries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standardization needed for proper director grouping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974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Year Consistency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1691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movies fall within 2010–2019 scope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start_year data type and format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75488" cy="47548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2010–2019 with strong genre diversity — Action, Drama, Comedy dominate.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65376"/>
            <a:ext cx="475488" cy="47548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8366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9280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Medium-length films (90–120 min) consistently score highest; extreme runtimes underperform.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33472"/>
            <a:ext cx="475488" cy="47548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517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6090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 positively correlates with rating — audience engagement is a key quality signal.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475488" cy="47548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1985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× Genre is the priority business question for guiding studio production decisions.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169664"/>
            <a:ext cx="475488" cy="47548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18795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1970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must address NULLs, multi-value genres, low-vote noise, and name standardization.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Data Analysis – Key Findings</dc:title>
  <dc:subject>PptxGenJS Presentation</dc:subject>
  <dc:creator>PptxGenJS</dc:creator>
  <cp:lastModifiedBy>PptxGenJS</cp:lastModifiedBy>
  <cp:revision>1</cp:revision>
  <dcterms:created xsi:type="dcterms:W3CDTF">2026-04-26T17:23:50Z</dcterms:created>
  <dcterms:modified xsi:type="dcterms:W3CDTF">2026-04-26T17:23:50Z</dcterms:modified>
</cp:coreProperties>
</file>